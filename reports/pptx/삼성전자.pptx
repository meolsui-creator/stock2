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37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441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삼성전자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가치투자 관점 리서치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9768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707070"/>
                </a:solidFill>
                <a:latin typeface="맑은 고딕"/>
                <a:ea typeface="맑은 고딕"/>
                <a:cs typeface="맑은 고딕"/>
              </a:rPr>
              <a:t>작성일 2026-06-16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09090"/>
                </a:solidFill>
                <a:latin typeface="맑은 고딕"/>
                <a:ea typeface="맑은 고딕"/>
                <a:cs typeface="맑은 고딕"/>
              </a:rPr>
              <a:t>학습용 분석 자료입니다 · 매수/매도·목표가 판단을 제공하지 않습니다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37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종목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38100"/>
          </a:xfrm>
          <a:prstGeom prst="rect">
            <a:avLst/>
          </a:prstGeom>
          <a:solidFill>
            <a:srgbClr val="F37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삼성전자는 KOSPI 상장 대표 대형주(종목코드 005930, DART 고유번호 00126380)이며, 메모리 반도체·파운드리·스마트폰(MX)·디스플레이를 영위하는 글로벌 종합 전자기업입니다. (출처: 한국거래소·DART / 기준일 2026-06-16)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시가총액은 보통주 기준 약 2,047.6조원으로 산출됩니다(종가 343,000원 × 발행주식수 약 5,969,782,550주). 가격 기준·발행주식수 산정 방식에 따라 절대 수준 해석에 유의가 필요합니다. (출처: pykrx OHLCV 종가·공시 통상 발행주식수 / 기준일 2026-06-16, 계산값)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일평균 거래대금이 수조 원대에 달하는 초대형주로, 체결·유동성 측면의 거래 리스크는 낮은 편입니다. (출처: pykrx OHLCV 기반 추정 / 기준일 2026-06-16)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본 리포트는 가치투자 관점의 학습용 분석이며, 다음 정기 실적발표 예정일은 2026-07-23입니다. (출처: Investing.com / 기준일 2026-06-16)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09090"/>
                </a:solidFill>
                <a:latin typeface="맑은 고딕"/>
                <a:ea typeface="맑은 고딕"/>
                <a:cs typeface="맑은 고딕"/>
              </a:rPr>
              <a:t>학습용 분석 자료입니다 · 매수/매도·목표가 판단을 제공하지 않습니다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37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재무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38100"/>
          </a:xfrm>
          <a:prstGeom prst="rect">
            <a:avLst/>
          </a:prstGeom>
          <a:solidFill>
            <a:srgbClr val="F37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94415" cy="2880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91440" marR="91440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91440" marR="91440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91440" marR="91440" marT="36576" marB="36576" anchor="ctr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91440" marR="91440" marT="36576" marB="36576" anchor="ctr"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매출액(조원)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258.9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300.9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333.6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영업이익(조원)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6.6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32.7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43.6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당기순이익(조원)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15.5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34.5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45.2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영업이익률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10.9%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13.1%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25.4%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27.9%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29.9%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이익잉여금(조원)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346.7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370.5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402.1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  <a:lnT w="6350" cap="flat" cmpd="sng" algn="ctr">
                      <a:solidFill>
                        <a:srgbClr val="D9D9D9"/>
                      </a:solidFill>
                    </a:lnT>
                    <a:lnB w="6350" cap="flat" cmpd="sng" algn="ctr">
                      <a:solidFill>
                        <a:srgbClr val="D9D9D9"/>
                      </a:solidFill>
                    </a:lnB>
                    <a:lnL w="6350" cap="flat" cmpd="sng" algn="ctr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</a:lnR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26280"/>
            <a:ext cx="11094415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(출처: DART 전자공시 사업보고서 / 기준일 2026-06-16, 연결재무제표 기준)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매출액은 2년 연속 증가했고(258.9→300.9→333.6조원), 영업이익은 2023년 저점(6.6조원) 이후 2024년 32.7조원, 2025년 43.6조원으로 가파르게 회복했습니다. (출처: DART 사업보고서 / 기준일 2026-06-16)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영업이익률이 2.5%→10.9%→13.1%로 추세적으로 개선되어 수익성 회복이 확인됩니다. (출처: DART 사업보고서 / 기준일 2026-06-16)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부채비율은 30% 내외로 절대 수준이 낮고, 이익잉여금은 매년 누적 증가(346.7→402.1조원)해 재무 안정성이 양호합니다. (출처: DART 사업보고서 / 기준일 2026-06-16)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1Q2026 분기 실적은 매출 133.9조원·영업이익 57.2조원으로, DART 수치가 삼성 공식 뉴스룸·외신을 통해 실제 사상 최대 분기 실적으로 교차 확인되었습니다(HBM/AI 메모리 호황 기인). (출처: DART 분기보고서·삼성 뉴스룸 / 기준일 2026-06-16)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09090"/>
                </a:solidFill>
                <a:latin typeface="맑은 고딕"/>
                <a:ea typeface="맑은 고딕"/>
                <a:cs typeface="맑은 고딕"/>
              </a:rPr>
              <a:t>학습용 분석 자료입니다 · 매수/매도·목표가 판단을 제공하지 않습니다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37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가격/추세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38100"/>
          </a:xfrm>
          <a:prstGeom prst="rect">
            <a:avLst/>
          </a:prstGeom>
          <a:solidFill>
            <a:srgbClr val="F37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삼성전자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79" y="1371600"/>
            <a:ext cx="7759337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94415" cy="-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현재가 343,000원, MA20 312,925원 / MA60 249,742원으로 정배열이며 두 이동평균 모두 상승 방향입니다. (출처: FinanceDataReader / 기준일 2026-06-16, 일별·지연)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52주 고가 360,500원(2026-06-02)·저가 53,900원(2025-05-27), 현재가는 52주 밴드 내 약 94.3% 고가권에 위치합니다. (출처: FinanceDataReader / 기준일 2026-06-16)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6개월 등락률은 +218.77%로 강한 상승 국면이나, 최근 5일 거래량이 20일 평균의 80.5% 수준으로 가격 상승 대비 거래 동반은 다소 약화되었습니다. (출처: FinanceDataReader / 기준일 2026-06-16)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09090"/>
                </a:solidFill>
                <a:latin typeface="맑은 고딕"/>
                <a:ea typeface="맑은 고딕"/>
                <a:cs typeface="맑은 고딕"/>
              </a:rPr>
              <a:t>학습용 분석 자료입니다 · 매수/매도·목표가 판단을 제공하지 않습니다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37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뉴스·심리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38100"/>
          </a:xfrm>
          <a:prstGeom prst="rect">
            <a:avLst/>
          </a:prstGeom>
          <a:solidFill>
            <a:srgbClr val="F37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**시장 심리: 긍정** — 사상 최대 실적, HBM4 매출 확대 전망, 파운드리 수주, 적극적 주주환원이 동시 작용하며 주가가 사상 최고치를 경신한 점이 근거입니다. (출처: 종합 / 기준일 2026-06-16)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1Q2026 사상 최대 실적: 매출 133.9조원(+69% YoY)·영업이익 57.2조원으로 FY2025 연간 영업이익을 한 분기에 상회했습니다. (출처: Samsung Global Newsroom·DCD / 2026 1분기)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HBM 본격 확대: HBM4 출하 본격화 및 2026년 HBM 매출 3배 이상 전망입니다(증권가 추정 가정 포함). (출처: thebell·뉴데일리 / 2026-01~03)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테슬라 파운드리 수주(약 22.8조원)와 2026년 파운드리 흑자전환·가동률 개선 기대입니다. (출처: 디일렉·테크월드 / 2025-07 계약, 2026 양산)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주주환원: 결산배당 증액, 자사주 약 16조원 소각 계획, FCF 50% 환원 정책 유지입니다(일부 배당 수치는 매체별 차이로 미확인). (출처: 삼성전자 IR / 2026-03)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09090"/>
                </a:solidFill>
                <a:latin typeface="맑은 고딕"/>
                <a:ea typeface="맑은 고딕"/>
                <a:cs typeface="맑은 고딕"/>
              </a:rPr>
              <a:t>학습용 분석 자료입니다 · 매수/매도·목표가 판단을 제공하지 않습니다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37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리스크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38100"/>
          </a:xfrm>
          <a:prstGeom prst="rect">
            <a:avLst/>
          </a:prstGeom>
          <a:solidFill>
            <a:srgbClr val="F37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**① 메모리 사이클·HBM 경쟁 실적 변동성**: 1Q2026 초호황 이익은 HBM/AI 메모리 사이클에 크게 기인해 ASP·수요 변동 시 이익 레버리지가 반대로도 크게 작동할 수 있고, HBM 시장 선두는 SK하이닉스입니다. (출처: DART·뉴스 종합 / 기준일 2026-06-16)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**② 고가권·모멘텀 약화 가격 변동성**: 52주 밴드 94.3% 고가권, 6개월 +218.77% 급등 이후 구간에서 거래량이 20일 평균의 80.5%로 약화돼 차익실현·변동성 확대에 민감할 수 있습니다. (출처: FinanceDataReader / 기준일 2026-06-16)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**③ 외국인·패시브 수급 쏠림 및 환원 가정 의존**: 대형주 특성상 지수 연동·외국인 수급 변화에 변동성이 증폭될 수 있고, 주주환원·파운드리 수주 가정이 흔들리면 밸류에이션 지지력이 약화될 수 있습니다. 일부 환원·시총 수치는 추가 확인이 필요합니다. (출처: pykrx·뉴스 종합 / 기준일 2026-06-16)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• 모니터링 포인트: 2026-07-23 실적발표의 HBM 비중·메모리 ASP·파운드리 흑자전환, 일별 거래대금 회복 여부, MA20(312,925)·MA60(249,742) 이탈 및 52주 고가(360,500) 재돌파 여부입니다. (출처: 종합 / 기준일 2026-06-16)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09090"/>
                </a:solidFill>
                <a:latin typeface="맑은 고딕"/>
                <a:ea typeface="맑은 고딕"/>
                <a:cs typeface="맑은 고딕"/>
              </a:rPr>
              <a:t>학습용 분석 자료입니다 · 매수/매도·목표가 판단을 제공하지 않습니다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37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한 줄 종합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280160" cy="38100"/>
          </a:xfrm>
          <a:prstGeom prst="rect">
            <a:avLst/>
          </a:prstGeom>
          <a:solidFill>
            <a:srgbClr val="F37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109441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3개년 매출·이익 동반 증가와 영업이익률 2.5%→13.1% 회복, 30% 내외의 낮은 부채비율이 확인되는 펀더멘털 개선 국면이나, 실적이 메모리·HBM 사이클에 크게 의존하고 주가가 고가권·거래 약화 구간에 있어 변동성 점검이 함께 필요한 시점입니다. (출처: DART·FinanceDataReader·뉴스 종합 / 기준일 2026-06-16)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09090"/>
                </a:solidFill>
                <a:latin typeface="맑은 고딕"/>
                <a:ea typeface="맑은 고딕"/>
                <a:cs typeface="맑은 고딕"/>
              </a:rPr>
              <a:t>학습용 분석 자료입니다 · 매수/매도·목표가 판단을 제공하지 않습니다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